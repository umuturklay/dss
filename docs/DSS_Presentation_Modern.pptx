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980B9"/>
            </a:gs>
            <a:gs pos="100000">
              <a:srgbClr val="6DD5F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Scholarship Matching</a:t>
            </a:r>
          </a:p>
          <a:p>
            <a:r>
              <a:t>Decision Support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🎓 A Student-Centric Approach to Scholarship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Umut Turklay</a:t>
            </a:r>
          </a:p>
          <a:p>
            <a:r>
              <a:t>UE Course Project •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😓 The Problem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Time-Consuming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15-20 minutes per manual search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Limited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060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Students find only 2-3 scholarships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004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No 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204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Unclear eligibility criteria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14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Potential 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4348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Inconsistent application of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7680960" cy="109728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💡 Result: Students overwhelmed, qualified candidates miss deadlines,</a:t>
            </a:r>
          </a:p>
          <a:p>
            <a:r>
              <a:t>wasted time on ineligible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🎯 Research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7315200" cy="640080"/>
          </a:xfrm>
          <a:prstGeom prst="roundRect">
            <a:avLst/>
          </a:prstGeom>
          <a:gradFill rotWithShape="1">
            <a:gsLst>
              <a:gs pos="0">
                <a:srgbClr val="3498DB"/>
              </a:gs>
              <a:gs pos="100000">
                <a:srgbClr val="9B59B6"/>
              </a:gs>
            </a:gsLst>
            <a:lin scaled="0"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Build a transparent, fair, and efficient Decision Support System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86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≥80% 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060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Accurate scholarship recommendations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Full 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290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'Why Matched / Why Not' explanations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⚖️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31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Fairness by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5196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Demographic bias detection &amp; monitoring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754880"/>
            <a:ext cx="548640" cy="548640"/>
          </a:xfrm>
          <a:prstGeom prst="ellipse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≥50% Time 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0749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Reduce scholarship search time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577840"/>
            <a:ext cx="548640" cy="548640"/>
          </a:xfrm>
          <a:prstGeom prst="ellipse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5778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Always Fresh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8978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Auto-updating scholarship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📚 Academic Foundation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7680960" cy="640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Noviyanto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5087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AHP for scholarship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7680960" cy="640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Bachtiar et al. (2021)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331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AHP vs TOPSIS vs Deep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7680960" cy="640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B59B6"/>
                </a:solidFill>
              </a:defRPr>
            </a:pPr>
            <a:r>
              <a:t>Fajardo et al. (2024)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15467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ML interpretability for grants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7680960" cy="640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Rasooli et al. (2023)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977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Fairness in educational 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7680960" cy="640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Ziegler et al. (2021)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800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Equity gaps measurement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6035040"/>
            <a:ext cx="5486400" cy="45720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6080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✅ Start Simple: Rule-based DSS → 🔮 Future: ML-based ranker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09728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🎨 Presentation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HTMX + Jinja2 + TailwindCSS</a:t>
            </a:r>
          </a:p>
        </p:txBody>
      </p:sp>
      <p:sp>
        <p:nvSpPr>
          <p:cNvPr id="6" name="Down Arrow 5"/>
          <p:cNvSpPr/>
          <p:nvPr/>
        </p:nvSpPr>
        <p:spPr>
          <a:xfrm>
            <a:off x="4114800" y="2560320"/>
            <a:ext cx="914400" cy="457200"/>
          </a:xfrm>
          <a:prstGeom prst="downArrow">
            <a:avLst/>
          </a:prstGeom>
          <a:solidFill>
            <a:srgbClr val="7F8C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6400800" cy="137160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⚙️ Application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Flask Blueprints: Match, Explain, Audit</a:t>
            </a:r>
          </a:p>
          <a:p>
            <a:r>
              <a:t>Services: RuleFilter, Ranker, Explainer, FairnessAuditor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114800" y="4663440"/>
            <a:ext cx="914400" cy="457200"/>
          </a:xfrm>
          <a:prstGeom prst="downArrow">
            <a:avLst/>
          </a:prstGeom>
          <a:solidFill>
            <a:srgbClr val="7F8C8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5303520"/>
            <a:ext cx="6400800" cy="1097280"/>
          </a:xfrm>
          <a:prstGeom prst="round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🗄️ 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8521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Firebase Firestore • 500 Students • 10 Scholarships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🔧 Data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109728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498DB"/>
                </a:solidFill>
              </a:defRPr>
            </a:pPr>
            <a:r>
              <a:t>5,416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</a:defRPr>
            </a:pPr>
            <a:r>
              <a:t>Original 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188720"/>
            <a:ext cx="2286000" cy="109728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4630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ECC71"/>
                </a:solidFill>
              </a:defRPr>
            </a:pPr>
            <a:r>
              <a:t>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860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</a:defRPr>
            </a:pPr>
            <a:r>
              <a:t>Processed 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188720"/>
            <a:ext cx="2286000" cy="1097280"/>
          </a:xfrm>
          <a:prstGeom prst="roundRect">
            <a:avLst/>
          </a:prstGeom>
          <a:solidFill>
            <a:srgbClr val="FFFF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4630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9B59B6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2860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F8C8D"/>
                </a:solidFill>
              </a:defRPr>
            </a:pPr>
            <a:r>
              <a:t>Data Quality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432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GPA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63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95-190 scale → 0-4.0 standard scale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66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Missing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862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0 missing values (100% complete)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🏷️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389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Categorical Encoding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70916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Gender (0/1), Course codes, Nationality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800"/>
            </a:pPr>
            <a:r>
              <a:t>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212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Feature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5321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Keyword extraction for Jaccard similarity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🔍 Stage A: Rule-Based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F8C8D"/>
                </a:solidFill>
              </a:defRPr>
            </a:pPr>
            <a:r>
              <a:t>Hard Constraints (Binary: Pass/Fail)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8404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498DB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727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GPA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student.gpa &gt;= min_gpa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38404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498DB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957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student.course IN eligible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38404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498DB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186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Nationality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nationality IN eligible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8404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5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498DB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0416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Deadline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976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deadline &gt; today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463040"/>
            <a:ext cx="38404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5544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CC71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15727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182880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age &lt;= age_max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2286000"/>
            <a:ext cx="38404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2377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CC71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3957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International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65176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is_international == required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108960"/>
            <a:ext cx="38404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3200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CC71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2186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Gender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47472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Women in STEM, etc.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3931920"/>
            <a:ext cx="38404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402335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CC71"/>
                </a:solidFill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0416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Citizenship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29768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Local-only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⚖️ Stage B: AHP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F8C8D"/>
                </a:solidFill>
              </a:defRPr>
            </a:pPr>
            <a:r>
              <a:t>Weighted Scoring (Inspired by Noviyanto 2023)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GPA Buffer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463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25%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508760"/>
            <a:ext cx="4114800" cy="228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1508760"/>
            <a:ext cx="1028700" cy="228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(student.gpa - min_gpa) / 4.0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Keyword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860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331720"/>
            <a:ext cx="4114800" cy="228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2331720"/>
            <a:ext cx="1028700" cy="228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Jaccard 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Competitiveness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108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B59B6"/>
                </a:solidFill>
              </a:defRPr>
            </a:pPr>
            <a:r>
              <a:t>20%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154679"/>
            <a:ext cx="4114800" cy="228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0" y="3154679"/>
            <a:ext cx="822960" cy="2286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1 - competitiveness (inverse)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Time to Deadline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931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15%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3977639"/>
            <a:ext cx="4114800" cy="228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0" y="3977639"/>
            <a:ext cx="617219" cy="228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51959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Urgency (sooner = higher)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Document Burden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15%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4800600"/>
            <a:ext cx="4114800" cy="228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14800" y="4800600"/>
            <a:ext cx="617219" cy="228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749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1 - (docs / max_docs)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5943600"/>
            <a:ext cx="5486400" cy="548640"/>
          </a:xfrm>
          <a:prstGeom prst="roundRect">
            <a:avLst/>
          </a:prstGeom>
          <a:gradFill rotWithShape="1">
            <a:gsLst>
              <a:gs pos="0">
                <a:srgbClr val="2ECC71"/>
              </a:gs>
              <a:gs pos="100000">
                <a:srgbClr val="3498DB"/>
              </a:gs>
            </a:gsLst>
            <a:lin scaled="0"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6035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📊 Final Score = Weighted Sum → Range: 0.0 - 1.0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💡 Explainability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840480" cy="502920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</a:defRPr>
            </a:pPr>
            <a:r>
              <a:t>✅ Matched Scholarship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474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DAAD Master's - Score: 0.87</a:t>
            </a:r>
          </a:p>
          <a:p/>
          <a:p>
            <a:r>
              <a:t>✓ GPA 3.6 meets minimum 3.0</a:t>
            </a:r>
          </a:p>
          <a:p>
            <a:r>
              <a:t>✓ Computer Science eligible</a:t>
            </a:r>
          </a:p>
          <a:p>
            <a:r>
              <a:t>✓ International student ✓</a:t>
            </a:r>
          </a:p>
          <a:p>
            <a:r>
              <a:t>✓ Age 22 within limit</a:t>
            </a:r>
          </a:p>
          <a:p>
            <a:r>
              <a:t>✓ Deadline in 78 days</a:t>
            </a:r>
          </a:p>
          <a:p/>
          <a:p>
            <a:r>
              <a:t>Score Breakdown:</a:t>
            </a:r>
          </a:p>
          <a:p>
            <a:r>
              <a:t>• GPA Buffer: 0.15</a:t>
            </a:r>
          </a:p>
          <a:p>
            <a:r>
              <a:t>• Keywords: 0.20</a:t>
            </a:r>
          </a:p>
          <a:p>
            <a:r>
              <a:t>• Competition: 0.16</a:t>
            </a:r>
          </a:p>
          <a:p>
            <a:r>
              <a:t>• Deadline: 0.12</a:t>
            </a:r>
          </a:p>
          <a:p>
            <a:r>
              <a:t>• Documents: 0.13</a:t>
            </a:r>
          </a:p>
          <a:p/>
          <a:p>
            <a:r>
              <a:t>💼 Apply by April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188720"/>
            <a:ext cx="3840480" cy="5029200"/>
          </a:xfrm>
          <a:prstGeom prst="roundRect">
            <a:avLst/>
          </a:prstGeom>
          <a:solidFill>
            <a:srgbClr val="FFEBEE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74C3C"/>
                </a:solidFill>
              </a:defRPr>
            </a:pPr>
            <a:r>
              <a:t>❌ Rejected Scholarship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828800"/>
            <a:ext cx="3474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3E50"/>
                </a:solidFill>
              </a:defRPr>
            </a:pPr>
            <a:r>
              <a:t>Local Merit Scholarship</a:t>
            </a:r>
          </a:p>
          <a:p/>
          <a:p>
            <a:r>
              <a:t>✗ Citizenship required:</a:t>
            </a:r>
          </a:p>
          <a:p>
            <a:r>
              <a:t>   You are international</a:t>
            </a:r>
          </a:p>
          <a:p/>
          <a:p>
            <a:r>
              <a:t>✗ GPA 2.8 below</a:t>
            </a:r>
          </a:p>
          <a:p>
            <a:r>
              <a:t>   minimum 3.2</a:t>
            </a:r>
          </a:p>
          <a:p/>
          <a:p>
            <a:r>
              <a:t>Met criteria:</a:t>
            </a:r>
          </a:p>
          <a:p>
            <a:r>
              <a:t>✓ Age 22 within limit</a:t>
            </a:r>
          </a:p>
          <a:p/>
          <a:p>
            <a:r>
              <a:t>💡 Recommendation:</a:t>
            </a:r>
          </a:p>
          <a:p>
            <a:r>
              <a:t>Consider improving GPA</a:t>
            </a:r>
          </a:p>
          <a:p>
            <a:r>
              <a:t>to 3.2+ or applying for</a:t>
            </a:r>
          </a:p>
          <a:p>
            <a:r>
              <a:t>citizenship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⚖️ Fairness Auditing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92024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Gender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Male vs Female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192024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659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Nationality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Domestic vs International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71600"/>
            <a:ext cx="192024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5087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659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GPA Band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860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Low / Mid / 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371600"/>
            <a:ext cx="1920240" cy="1188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5087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9659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</a:defRPr>
            </a:pPr>
            <a:r>
              <a:t>Scholarship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2860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Has vs No scholarship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017520"/>
            <a:ext cx="64008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320040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📐 Methodology (Rasooli et al. 2023)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56616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Match Rate = Total Matches / Number of Students</a:t>
            </a:r>
          </a:p>
          <a:p>
            <a:r>
              <a:t>Gap = Max(Match Rates) - Min(Match Rates)</a:t>
            </a:r>
          </a:p>
          <a:p/>
          <a:p>
            <a:r>
              <a:t>If Gap &gt; 15% → 🚨 BIAS ALERT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5029200"/>
            <a:ext cx="4572000" cy="64008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166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🚨 Bias Threshold: 15% gap triggers alert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📊 Fairness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7680960" cy="82296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1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👥 Gender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898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74C3C"/>
                </a:solidFill>
              </a:defRPr>
            </a:pPr>
            <a:r>
              <a:t>78.9%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🔴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F8C8D"/>
                </a:solidFill>
              </a:defRPr>
            </a:pPr>
            <a:r>
              <a:t>F: 2.02 avg | M: 1.23 avg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7680960" cy="82296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🌍 Nationality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9572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74C3C"/>
                </a:solidFill>
              </a:defRPr>
            </a:pPr>
            <a:r>
              <a:t>157.4%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🔴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61488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F8C8D"/>
                </a:solidFill>
              </a:defRPr>
            </a:pPr>
            <a:r>
              <a:t>Domestic: 1.97 | Intl: 0.40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7680960" cy="82296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29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📊 GPA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0156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1C40F"/>
                </a:solidFill>
              </a:defRPr>
            </a:pPr>
            <a:r>
              <a:t>319.2%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74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1C40F"/>
                </a:solidFill>
              </a:defRPr>
            </a:pPr>
            <a:r>
              <a:t>🟡 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F8C8D"/>
                </a:solidFill>
              </a:defRPr>
            </a:pPr>
            <a:r>
              <a:t>High: 3.54 | Low: 0.84 (Acceptable)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3749039" cy="1828800"/>
          </a:xfrm>
          <a:prstGeom prst="roundRect">
            <a:avLst/>
          </a:prstGeom>
          <a:solidFill>
            <a:srgbClr val="FFF3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🔍 Root Causes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3383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• Gender: Females have higher</a:t>
            </a:r>
          </a:p>
          <a:p>
            <a:r>
              <a:t>  avg GPA (2.46 vs 2.17)</a:t>
            </a:r>
          </a:p>
          <a:p/>
          <a:p>
            <a:r>
              <a:t>• Nationality: Only 5 intl students,</a:t>
            </a:r>
          </a:p>
          <a:p>
            <a:r>
              <a:t>  most scholarships need citizenship</a:t>
            </a:r>
          </a:p>
          <a:p/>
          <a:p>
            <a:r>
              <a:t>• GPA: Expected for merit-based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480560"/>
            <a:ext cx="3749039" cy="1828800"/>
          </a:xfrm>
          <a:prstGeom prst="round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6634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✅ Mitigation Strategies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029200"/>
            <a:ext cx="3383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• Add more international</a:t>
            </a:r>
          </a:p>
          <a:p>
            <a:r>
              <a:t>  scholarships to database</a:t>
            </a:r>
          </a:p>
          <a:p/>
          <a:p>
            <a:r>
              <a:t>• Add need-based scholarships</a:t>
            </a:r>
          </a:p>
          <a:p>
            <a:r>
              <a:t>  (low GPA requirements)</a:t>
            </a:r>
          </a:p>
          <a:p/>
          <a:p>
            <a:r>
              <a:t>• Monitor gender-specific schol.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ECC71"/>
            </a:gs>
            <a:gs pos="100000">
              <a:srgbClr val="27AE6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🎯 Validation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0" b="1">
                <a:solidFill>
                  <a:srgbClr val="FFFFFF"/>
                </a:solidFill>
              </a:defRPr>
            </a:pPr>
            <a:r>
              <a:t>86%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Average Precision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754880"/>
            <a:ext cx="4572000" cy="6400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892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ECC71"/>
                </a:solidFill>
              </a:defRPr>
            </a:pPr>
            <a:r>
              <a:t>✅ EXCEEDS 80%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46 correct recommendations out of 47 total</a:t>
            </a:r>
          </a:p>
          <a:p>
            <a:r>
              <a:t>10 diverse test profiles validated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📈 Results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92024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Match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Target: ≥80%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</a:defRPr>
            </a:pPr>
            <a:r>
              <a:t>86%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</a:defRPr>
            </a:pPr>
            <a:r>
              <a:t>✅ Exceeded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280160"/>
            <a:ext cx="192024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4630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Transparency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9202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Target: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860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83464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</a:defRPr>
            </a:pPr>
            <a:r>
              <a:t>✅ Met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280160"/>
            <a:ext cx="192024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4630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9202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Target: ≥50%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2860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</a:defRPr>
            </a:pPr>
            <a:r>
              <a:t>~99.7%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83464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</a:defRPr>
            </a:pPr>
            <a:r>
              <a:t>✅ Exceeded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280160"/>
            <a:ext cx="192024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4630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Equity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9202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F8C8D"/>
                </a:solidFill>
              </a:defRPr>
            </a:pPr>
            <a:r>
              <a:t>Target: &lt;15%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2860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1C40F"/>
                </a:solidFill>
              </a:defRPr>
            </a:pPr>
            <a:r>
              <a:t>Varies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34640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1C40F"/>
                </a:solidFill>
              </a:defRPr>
            </a:pPr>
            <a:r>
              <a:t>⚠️ Needs 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3474720"/>
            <a:ext cx="6400800" cy="13716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365760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📊 Database Statistics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11480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500 Students • 10 Scholarships • 1.96 avg matches/student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5029200"/>
            <a:ext cx="6400800" cy="1097280"/>
          </a:xfrm>
          <a:prstGeom prst="round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21208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🧪 Testing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57784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53 pytest tests • 25 filtering • 18 ranking • 10 explanation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3498DB"/>
            </a:gs>
            <a:gs pos="100000">
              <a:srgbClr val="9B59B6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✅ 86% precision (exceeds 80% target)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✅ Full transparency with explanations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✅ Demographic bias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✅ 53 pytest tests validating core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✅ Complete documentation + 6 diagrams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029200"/>
            <a:ext cx="6400800" cy="118872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5212080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C3E50"/>
                </a:solidFill>
              </a:defRPr>
            </a:pPr>
            <a:r>
              <a:t>💡 Impact: 3 seconds (vs 15-20 minutes manually)</a:t>
            </a:r>
          </a:p>
          <a:p>
            <a:r>
              <a:t>Transparent recommendations • Scalable foundation for 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980B9"/>
            </a:gs>
            <a:gs pos="100000">
              <a:srgbClr val="6DD5F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Umut Turklay</a:t>
            </a:r>
          </a:p>
          <a:p>
            <a:r>
              <a:t>UE Course Project • January 2026</a:t>
            </a:r>
          </a:p>
          <a:p/>
          <a:p>
            <a:r>
              <a:t>🌐 Demo: http://localhost:5002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