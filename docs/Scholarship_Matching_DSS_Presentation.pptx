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Scholarship Matching</a:t>
            </a:r>
          </a:p>
          <a:p>
            <a:r>
              <a:t>Decision Support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A Student-Centric Approach to Scholarship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Umut Turklay</a:t>
            </a:r>
          </a:p>
          <a:p>
            <a:r>
              <a:t>UE Course Project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Challenge</a:t>
            </a:r>
          </a:p>
          <a:p>
            <a:pPr lvl="1"/>
            <a:r>
              <a:t>Manual scholarship search is time-consuming: 15-20 minutes per search</a:t>
            </a:r>
          </a:p>
          <a:p>
            <a:pPr lvl="1"/>
            <a:r>
              <a:t>Students miss opportunities: Only find 2-3 scholarships manually</a:t>
            </a:r>
          </a:p>
          <a:p>
            <a:pPr lvl="1"/>
            <a:r>
              <a:t>Lack of transparency: No clear understanding of eligibility</a:t>
            </a:r>
          </a:p>
          <a:p>
            <a:pPr lvl="1"/>
            <a:r>
              <a:t>Potential bias: Inconsistent criteria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Primary Goal</a:t>
            </a:r>
          </a:p>
          <a:p>
            <a:pPr lvl="1"/>
            <a:r>
              <a:t>Build a transparent, fair, and efficient Decision Support System</a:t>
            </a:r>
          </a:p>
          <a:p>
            <a:br/>
            <a:pPr>
              <a:defRPr b="1"/>
            </a:pPr>
            <a:r>
              <a:t>Specific Objectives</a:t>
            </a:r>
          </a:p>
          <a:p>
            <a:pPr lvl="1"/>
            <a:r>
              <a:t>Accurate Matches: Achieve ≥80% precision</a:t>
            </a:r>
          </a:p>
          <a:p>
            <a:pPr lvl="1"/>
            <a:r>
              <a:t>Clear Reasoning: Provide 'Why Matched / Why Not' explanations</a:t>
            </a:r>
          </a:p>
          <a:p>
            <a:pPr lvl="1"/>
            <a:r>
              <a:t>Fairness by Design: Detect and monitor demographic bias</a:t>
            </a:r>
          </a:p>
          <a:p>
            <a:pPr lvl="1"/>
            <a:r>
              <a:t>Efficiency: Reduce search time by ≥50%</a:t>
            </a:r>
          </a:p>
          <a:p>
            <a:pPr lvl="1"/>
            <a:r>
              <a:t>Always Fresh: Auto-updating scholarship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Academic Foundation</a:t>
            </a:r>
          </a:p>
          <a:p>
            <a:pPr lvl="1">
              <a:defRPr sz="1600"/>
            </a:pPr>
            <a:r>
              <a:t>Noviyanto (2023): AHP for scholarship selection</a:t>
            </a:r>
          </a:p>
          <a:p>
            <a:pPr lvl="1">
              <a:defRPr sz="1600"/>
            </a:pPr>
            <a:r>
              <a:t>Bachtiar et al. (2021): Comparison: AHP vs TOPSIS vs Deep Learning</a:t>
            </a:r>
          </a:p>
          <a:p>
            <a:pPr lvl="1">
              <a:defRPr sz="1600"/>
            </a:pPr>
            <a:r>
              <a:t>Fajardo et al. (2024): ML interpretability for scholarship grants</a:t>
            </a:r>
          </a:p>
          <a:p>
            <a:pPr lvl="1">
              <a:defRPr sz="1600"/>
            </a:pPr>
            <a:r>
              <a:t>Rasooli et al. (2023): Fairness in educational assessment</a:t>
            </a:r>
          </a:p>
          <a:p>
            <a:pPr lvl="1">
              <a:defRPr sz="1600"/>
            </a:pPr>
            <a:r>
              <a:t>Ziegler et al. (2021): Equity gaps measurement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Three-Tier Architecture</a:t>
            </a:r>
          </a:p>
          <a:p>
            <a:br/>
            <a:pPr>
              <a:defRPr b="1"/>
            </a:pPr>
            <a:r>
              <a:t>Presentation Layer</a:t>
            </a:r>
          </a:p>
          <a:p>
            <a:pPr lvl="1"/>
            <a:r>
              <a:t>HTMX + Jinja2 + TailwindCSS</a:t>
            </a:r>
          </a:p>
          <a:p>
            <a:br/>
            <a:pPr>
              <a:defRPr b="1"/>
            </a:pPr>
            <a:r>
              <a:t>Application Layer</a:t>
            </a:r>
          </a:p>
          <a:p>
            <a:pPr lvl="1"/>
            <a:r>
              <a:t>Flask Blueprints (Match, Explain, Audit)</a:t>
            </a:r>
          </a:p>
          <a:p>
            <a:pPr lvl="1"/>
            <a:r>
              <a:t>Business Services (RuleFilter, Ranker, Explainer)</a:t>
            </a:r>
          </a:p>
          <a:p>
            <a:br/>
            <a:pPr>
              <a:defRPr b="1"/>
            </a:pPr>
            <a:r>
              <a:t>Data Layer</a:t>
            </a:r>
          </a:p>
          <a:p>
            <a:pPr lvl="1"/>
            <a:r>
              <a:t>Firebase Firestore - 500 Students, 10 Scholarships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Dataset</a:t>
            </a:r>
          </a:p>
          <a:p>
            <a:pPr lvl="1"/>
            <a:r>
              <a:t>Source: Kaggle Student Success Dataset (5,416 students)</a:t>
            </a:r>
          </a:p>
          <a:p>
            <a:pPr lvl="1"/>
            <a:r>
              <a:t>Processed: 500 students (stratified sample)</a:t>
            </a:r>
          </a:p>
          <a:p>
            <a:br/>
            <a:pPr>
              <a:defRPr b="1"/>
            </a:pPr>
            <a:r>
              <a:t>Key Preprocessing Steps</a:t>
            </a:r>
          </a:p>
          <a:p>
            <a:pPr lvl="1">
              <a:defRPr sz="1600"/>
            </a:pPr>
            <a:r>
              <a:t>GPA Normalization: 95-190 → 0-4.0 scale</a:t>
            </a:r>
          </a:p>
          <a:p>
            <a:pPr lvl="1">
              <a:defRPr sz="1600"/>
            </a:pPr>
            <a:r>
              <a:t>Missing Values: 0 missing (100% complete)</a:t>
            </a:r>
          </a:p>
          <a:p>
            <a:pPr lvl="1">
              <a:defRPr sz="1600"/>
            </a:pPr>
            <a:r>
              <a:t>Categorical Encoding: Gender, Course, Nationality</a:t>
            </a:r>
          </a:p>
          <a:p>
            <a:pPr lvl="1">
              <a:defRPr sz="1600"/>
            </a:pPr>
            <a:r>
              <a:t>Feature Engineering: Keyword extraction</a:t>
            </a:r>
          </a:p>
          <a:p>
            <a:pPr lvl="1">
              <a:defRPr sz="1600"/>
            </a:pPr>
            <a:r>
              <a:t>Stratified Sampling: Preserve demographics (92.2% F, 7.8% 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Matching Algorithm: Stage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Rule-Based Filter (Hard Constraints)</a:t>
            </a:r>
          </a:p>
          <a:p>
            <a:br/>
            <a:pPr>
              <a:defRPr b="1"/>
            </a:pPr>
            <a:r>
              <a:t>8 Eligibility Rules:</a:t>
            </a:r>
          </a:p>
          <a:p>
            <a:pPr lvl="1">
              <a:defRPr sz="1400"/>
            </a:pPr>
            <a:r>
              <a:t>1. GPA: student.gpa &gt;= scholarship.min_gpa</a:t>
            </a:r>
          </a:p>
          <a:p>
            <a:pPr lvl="1">
              <a:defRPr sz="1400"/>
            </a:pPr>
            <a:r>
              <a:t>2. Course: student.course IN eligible_courses</a:t>
            </a:r>
          </a:p>
          <a:p>
            <a:pPr lvl="1">
              <a:defRPr sz="1400"/>
            </a:pPr>
            <a:r>
              <a:t>3. Nationality: student.nationality IN eligible_nationalities</a:t>
            </a:r>
          </a:p>
          <a:p>
            <a:pPr lvl="1">
              <a:defRPr sz="1400"/>
            </a:pPr>
            <a:r>
              <a:t>4. Deadline: scholarship.deadline &gt; today</a:t>
            </a:r>
          </a:p>
          <a:p>
            <a:pPr lvl="1">
              <a:defRPr sz="1400"/>
            </a:pPr>
            <a:r>
              <a:t>5. Age: student.age &lt;= scholarship.age_max</a:t>
            </a:r>
          </a:p>
          <a:p>
            <a:pPr lvl="1">
              <a:defRPr sz="1400"/>
            </a:pPr>
            <a:r>
              <a:t>6. International Status: Required == student.is_international</a:t>
            </a:r>
          </a:p>
          <a:p>
            <a:pPr lvl="1">
              <a:defRPr sz="1400"/>
            </a:pPr>
            <a:r>
              <a:t>7. Gender: Gender-specific scholarships (Women in STEM)</a:t>
            </a:r>
          </a:p>
          <a:p>
            <a:pPr lvl="1">
              <a:defRPr sz="1400"/>
            </a:pPr>
            <a:r>
              <a:t>8. Citizenship: Local-only scholarships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Matching Algorithm: Stage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AHP-Based Weighted Scoring</a:t>
            </a:r>
          </a:p>
          <a:p>
            <a:br/>
            <a:pPr>
              <a:defRPr b="1"/>
            </a:pPr>
            <a:r>
              <a:t>5 Weighted Factors:</a:t>
            </a:r>
          </a:p>
          <a:p>
            <a:pPr lvl="1">
              <a:defRPr sz="1400"/>
            </a:pPr>
            <a:r>
              <a:t>GPA Buffer (25%): (student.gpa - min_gpa) / 4.0</a:t>
            </a:r>
          </a:p>
          <a:p>
            <a:pPr lvl="1">
              <a:defRPr sz="1400"/>
            </a:pPr>
            <a:r>
              <a:t>Keyword Match (25%): Jaccard similarity</a:t>
            </a:r>
          </a:p>
          <a:p>
            <a:pPr lvl="1">
              <a:defRPr sz="1400"/>
            </a:pPr>
            <a:r>
              <a:t>Competitiveness (20%): 1 - competitiveness (easier to win)</a:t>
            </a:r>
          </a:p>
          <a:p>
            <a:pPr lvl="1">
              <a:defRPr sz="1400"/>
            </a:pPr>
            <a:r>
              <a:t>Time to Deadline (15%): Urgency (sooner = higher)</a:t>
            </a:r>
          </a:p>
          <a:p>
            <a:pPr lvl="1">
              <a:defRPr sz="1400"/>
            </a:pPr>
            <a:r>
              <a:t>Document Burden (15%): 1 - (docs / max_docs)</a:t>
            </a:r>
          </a:p>
          <a:p>
            <a:br/>
            <a:pPr>
              <a:defRPr b="1">
                <a:solidFill>
                  <a:srgbClr val="27AE60"/>
                </a:solidFill>
              </a:defRPr>
            </a:pPr>
            <a:r>
              <a:t>Final Score: Weighted sum → Range: 0.0 - 1.0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Explainability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"Why Matched / Why Not" Transparency</a:t>
            </a:r>
          </a:p>
          <a:p>
            <a:br/>
            <a:pPr>
              <a:defRPr b="1"/>
            </a:pPr>
            <a:r>
              <a:t>For Matched Scholarships: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✓ GPA 3.6 meets minimum 3.0 (+0.6 buffer)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✓ Computer Science major eligible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✓ International student (required)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✓ Score breakdown by factor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✓ Actionable recommendation</a:t>
            </a:r>
          </a:p>
          <a:p>
            <a:br/>
            <a:pPr>
              <a:defRPr b="1"/>
            </a:pPr>
            <a:r>
              <a:t>For Rejected Scholarships:</a:t>
            </a:r>
          </a:p>
          <a:p>
            <a:pPr lvl="1">
              <a:defRPr>
                <a:solidFill>
                  <a:srgbClr val="E74C3C"/>
                </a:solidFill>
              </a:defRPr>
            </a:pPr>
            <a:r>
              <a:t>✗ Citizenship required: You are international</a:t>
            </a:r>
          </a:p>
          <a:p>
            <a:pPr lvl="1">
              <a:defRPr>
                <a:solidFill>
                  <a:srgbClr val="E74C3C"/>
                </a:solidFill>
              </a:defRPr>
            </a:pPr>
            <a:r>
              <a:t>✗ GPA 2.8 below minimum 3.2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Fairness Auditing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Demographic Bias Detection</a:t>
            </a:r>
          </a:p>
          <a:p>
            <a:br/>
            <a:pPr>
              <a:defRPr b="1"/>
            </a:pPr>
            <a:r>
              <a:t>4 Groups Analyzed:</a:t>
            </a:r>
          </a:p>
          <a:p>
            <a:pPr lvl="1"/>
            <a:r>
              <a:t>Gender (Male vs Female)</a:t>
            </a:r>
          </a:p>
          <a:p>
            <a:pPr lvl="1"/>
            <a:r>
              <a:t>Nationality (Domestic vs International)</a:t>
            </a:r>
          </a:p>
          <a:p>
            <a:pPr lvl="1"/>
            <a:r>
              <a:t>GPA Band (Low &lt;2.5 vs Mid 2.5-3.2 vs High &gt;3.2)</a:t>
            </a:r>
          </a:p>
          <a:p>
            <a:pPr lvl="1"/>
            <a:r>
              <a:t>Scholarship Holder Status (Has vs No)</a:t>
            </a:r>
          </a:p>
          <a:p>
            <a:br/>
            <a:pPr>
              <a:defRPr b="1">
                <a:solidFill>
                  <a:srgbClr val="E74C3C"/>
                </a:solidFill>
              </a:defRPr>
            </a:pPr>
            <a:r>
              <a:t>Bias Threshold: 15% gap triggers alert</a:t>
            </a:r>
          </a:p>
          <a:p>
            <a:br/>
            <a:pPr>
              <a:defRPr b="1"/>
            </a:pPr>
            <a:r>
              <a:t>Methodology:</a:t>
            </a:r>
          </a:p>
          <a:p>
            <a:pPr lvl="1"/>
            <a:r>
              <a:t>Match Rate = Total Matches / Students</a:t>
            </a:r>
          </a:p>
          <a:p>
            <a:pPr lvl="1"/>
            <a:r>
              <a:t>Gap = Max(Rates) - Min(Rates)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Fairness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Bias Gaps Detected</a:t>
            </a:r>
          </a:p>
          <a:p>
            <a:br/>
            <a:pPr lvl="1">
              <a:defRPr>
                <a:solidFill>
                  <a:srgbClr val="E74C3C"/>
                </a:solidFill>
              </a:defRPr>
            </a:pPr>
            <a:r>
              <a:t>Gender: 78.9% gap (HIGH)</a:t>
            </a:r>
          </a:p>
          <a:p>
            <a:pPr lvl="2">
              <a:defRPr sz="1400"/>
            </a:pPr>
            <a:r>
              <a:t>Females: 2.02 avg, Males: 1.23 avg</a:t>
            </a:r>
          </a:p>
          <a:p>
            <a:br/>
            <a:pPr lvl="1">
              <a:defRPr>
                <a:solidFill>
                  <a:srgbClr val="E74C3C"/>
                </a:solidFill>
              </a:defRPr>
            </a:pPr>
            <a:r>
              <a:t>Nationality: 157.4% gap (HIGH)</a:t>
            </a:r>
          </a:p>
          <a:p>
            <a:pPr lvl="2">
              <a:defRPr sz="1400"/>
            </a:pPr>
            <a:r>
              <a:t>Domestic: 1.97 avg, International: 0.40 avg</a:t>
            </a:r>
          </a:p>
          <a:p>
            <a:br/>
            <a:pPr lvl="1">
              <a:defRPr>
                <a:solidFill>
                  <a:srgbClr val="F39C12"/>
                </a:solidFill>
              </a:defRPr>
            </a:pPr>
            <a:r>
              <a:t>GPA: 319.2% gap (MEDIUM - Acceptable)</a:t>
            </a:r>
          </a:p>
          <a:p>
            <a:pPr lvl="2">
              <a:defRPr sz="1400"/>
            </a:pPr>
            <a:r>
              <a:t>High GPA: 3.54 avg, Low GPA: 0.84 avg</a:t>
            </a:r>
          </a:p>
          <a:p>
            <a:br/>
            <a:pPr>
              <a:defRPr b="1"/>
            </a:pPr>
            <a:r>
              <a:t>Mitigation:</a:t>
            </a:r>
          </a:p>
          <a:p>
            <a:pPr lvl="1"/>
            <a:r>
              <a:t>Add more international/need-based scholarships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Testing Strategy (pytest)</a:t>
            </a:r>
          </a:p>
          <a:p>
            <a:br/>
            <a:pPr>
              <a:defRPr b="1">
                <a:solidFill>
                  <a:srgbClr val="27AE60"/>
                </a:solidFill>
              </a:defRPr>
            </a:pPr>
            <a:r>
              <a:t>Total Tests: 53 unit tests</a:t>
            </a:r>
          </a:p>
          <a:p>
            <a:pPr lvl="1"/>
            <a:r>
              <a:t>25 tests: Rule-based filtering</a:t>
            </a:r>
          </a:p>
          <a:p>
            <a:pPr lvl="1"/>
            <a:r>
              <a:t>18 tests: AHP scoring algorithm</a:t>
            </a:r>
          </a:p>
          <a:p>
            <a:pPr lvl="1"/>
            <a:r>
              <a:t>10 tests: Explanation generation</a:t>
            </a:r>
          </a:p>
          <a:p>
            <a:br/>
            <a:pPr>
              <a:defRPr b="1"/>
            </a:pPr>
            <a:r>
              <a:t>Validation Method</a:t>
            </a:r>
          </a:p>
          <a:p>
            <a:pPr lvl="1"/>
            <a:r>
              <a:t>10 diverse test student profiles</a:t>
            </a:r>
          </a:p>
          <a:p>
            <a:pPr lvl="1"/>
            <a:r>
              <a:t>Manually verified ground truth</a:t>
            </a:r>
          </a:p>
          <a:p>
            <a:pPr lvl="1"/>
            <a:r>
              <a:t>Precision = Correct / Total Recommendations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27AE60"/>
                </a:solidFill>
              </a:defRPr>
            </a:pPr>
            <a:r>
              <a:t>86%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657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Average Precision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3891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</a:defRPr>
            </a:pPr>
            <a:r>
              <a:t>✅ EXCEEDS 80%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46 correct recommendations out of 47 total</a:t>
            </a:r>
          </a:p>
          <a:p>
            <a:r>
              <a:t>10 diverse test profiles (High GPA, Low GPA, International, etc.)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Achieved Metrics</a:t>
            </a:r>
          </a:p>
          <a:p>
            <a:pPr lvl="1">
              <a:defRPr sz="1400"/>
            </a:pPr>
            <a:r>
              <a:t>Match Quality: Target ≥80% precision → Achieved 86% ✅ Exceeded</a:t>
            </a:r>
          </a:p>
          <a:p>
            <a:pPr lvl="1">
              <a:defRPr sz="1400"/>
            </a:pPr>
            <a:r>
              <a:t>Transparency: Target 100% explanations → Achieved 100% ✅ Met</a:t>
            </a:r>
          </a:p>
          <a:p>
            <a:pPr lvl="1">
              <a:defRPr sz="1400"/>
            </a:pPr>
            <a:r>
              <a:t>Efficiency: Target ≥50% time saved → Achieved ~99.7% ✅ Exceeded</a:t>
            </a:r>
          </a:p>
          <a:p>
            <a:pPr lvl="1">
              <a:defRPr sz="1400"/>
            </a:pPr>
            <a:r>
              <a:t>Equity: Target &lt;15% bias gap → Achieved Varies ⚠️ Needs work</a:t>
            </a:r>
          </a:p>
          <a:p>
            <a:br/>
            <a:pPr>
              <a:defRPr b="1"/>
            </a:pPr>
            <a:r>
              <a:t>Database Statistics:</a:t>
            </a:r>
          </a:p>
          <a:p>
            <a:pPr lvl="1"/>
            <a:r>
              <a:t>500 students, 10 scholarships</a:t>
            </a:r>
          </a:p>
          <a:p>
            <a:pPr lvl="1"/>
            <a:r>
              <a:t>Average: 1.96 matches per student (19.6% match rate)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Key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1. Academic Rigor</a:t>
            </a:r>
          </a:p>
          <a:p>
            <a:pPr lvl="1"/>
            <a:r>
              <a:t>Literature-grounded design (5 papers)</a:t>
            </a:r>
          </a:p>
          <a:p>
            <a:pPr lvl="1"/>
            <a:r>
              <a:t>AHP-based ranking (Noviyanto 2023)</a:t>
            </a:r>
          </a:p>
          <a:p>
            <a:br/>
            <a:pPr>
              <a:defRPr b="1"/>
            </a:pPr>
            <a:r>
              <a:t>2. Technical Implementation</a:t>
            </a:r>
          </a:p>
          <a:p>
            <a:pPr lvl="1"/>
            <a:r>
              <a:t>Two-stage pipeline (Filter → Rank)</a:t>
            </a:r>
          </a:p>
          <a:p>
            <a:pPr lvl="1"/>
            <a:r>
              <a:t>8 eligibility rules + 5 AHP factors</a:t>
            </a:r>
          </a:p>
          <a:p>
            <a:pPr lvl="1"/>
            <a:r>
              <a:t>Full explainability (rule traces)</a:t>
            </a:r>
          </a:p>
          <a:p>
            <a:br/>
            <a:pPr>
              <a:defRPr b="1"/>
            </a:pPr>
            <a:r>
              <a:t>3. Validation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86% precision (exceeds 80% target)</a:t>
            </a:r>
          </a:p>
          <a:p>
            <a:pPr lvl="1"/>
            <a:r>
              <a:t>53 pytest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Current Limitations</a:t>
            </a:r>
          </a:p>
          <a:p>
            <a:pPr lvl="1">
              <a:defRPr sz="1600"/>
            </a:pPr>
            <a:r>
              <a:t>Small Dataset: 500 students, 10 scholarships</a:t>
            </a:r>
          </a:p>
          <a:p>
            <a:pPr lvl="1">
              <a:defRPr sz="1600"/>
            </a:pPr>
            <a:r>
              <a:t>Manual Weights: AHP weights not learned from data</a:t>
            </a:r>
          </a:p>
          <a:p>
            <a:pPr lvl="1">
              <a:defRPr sz="1600"/>
            </a:pPr>
            <a:r>
              <a:t>No User Feedback: Cannot adjust based on outcomes</a:t>
            </a:r>
          </a:p>
          <a:p>
            <a:pPr lvl="1">
              <a:defRPr sz="1600"/>
            </a:pPr>
            <a:r>
              <a:t>Static Scholarships: No auto-updating</a:t>
            </a:r>
          </a:p>
          <a:p>
            <a:pPr lvl="1">
              <a:defRPr sz="1600"/>
            </a:pPr>
            <a:r>
              <a:t>Bias Issues: Gender/nationality gaps need mitigation</a:t>
            </a:r>
          </a:p>
          <a:p>
            <a:br/>
            <a:pPr>
              <a:defRPr b="1"/>
            </a:pPr>
            <a:r>
              <a:t>Technical Gaps</a:t>
            </a:r>
          </a:p>
          <a:p>
            <a:pPr lvl="1"/>
            <a:r>
              <a:t>No mobile app</a:t>
            </a:r>
          </a:p>
          <a:p>
            <a:pPr lvl="1"/>
            <a:r>
              <a:t>No email notifications</a:t>
            </a:r>
          </a:p>
          <a:p>
            <a:pPr lvl="1"/>
            <a:r>
              <a:t>No admin panel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Short-Term Enhancements</a:t>
            </a:r>
          </a:p>
          <a:p>
            <a:pPr lvl="1">
              <a:defRPr sz="1500"/>
            </a:pPr>
            <a:r>
              <a:t>ML-Based Ranker: Learn weights from data</a:t>
            </a:r>
          </a:p>
          <a:p>
            <a:pPr lvl="1">
              <a:defRPr sz="1500"/>
            </a:pPr>
            <a:r>
              <a:t>User Feedback Loop: Improve based on outcomes</a:t>
            </a:r>
          </a:p>
          <a:p>
            <a:pPr lvl="1">
              <a:defRPr sz="1500"/>
            </a:pPr>
            <a:r>
              <a:t>Larger Database: Expand to 50+ scholarships</a:t>
            </a:r>
          </a:p>
          <a:p>
            <a:pPr lvl="1">
              <a:defRPr sz="1500"/>
            </a:pPr>
            <a:r>
              <a:t>Bias Mitigation: Add international/need-based scholarships</a:t>
            </a:r>
          </a:p>
          <a:p>
            <a:br/>
            <a:pPr>
              <a:defRPr b="1"/>
            </a:pPr>
            <a:r>
              <a:t>Long-Term Vision</a:t>
            </a:r>
          </a:p>
          <a:p>
            <a:pPr lvl="1">
              <a:defRPr sz="1500"/>
            </a:pPr>
            <a:r>
              <a:t>Mobile App: Flutter with push notifications</a:t>
            </a:r>
          </a:p>
          <a:p>
            <a:pPr lvl="1">
              <a:defRPr sz="1500"/>
            </a:pPr>
            <a:r>
              <a:t>Email Alerts: New scholarship matches</a:t>
            </a:r>
          </a:p>
          <a:p>
            <a:pPr lvl="1">
              <a:defRPr sz="1500"/>
            </a:pPr>
            <a:r>
              <a:t>Admin Panel: Scholarship CRUD operations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What Worked Well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✅ Rule-based approach: Transparent and debuggable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✅ HTMX: Dynamic updates without SPA complexity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✅ Two-stage pipeline: Clear separation</a:t>
            </a:r>
          </a:p>
          <a:p>
            <a:br/>
            <a:pPr>
              <a:defRPr b="1"/>
            </a:pPr>
            <a:r>
              <a:t>Challenges</a:t>
            </a:r>
          </a:p>
          <a:p>
            <a:pPr lvl="1">
              <a:defRPr>
                <a:solidFill>
                  <a:srgbClr val="F39C12"/>
                </a:solidFill>
              </a:defRPr>
            </a:pPr>
            <a:r>
              <a:t>⚠️ Bias detection: Hard to distinguish acceptable vs problematic</a:t>
            </a:r>
          </a:p>
          <a:p>
            <a:pPr lvl="1">
              <a:defRPr>
                <a:solidFill>
                  <a:srgbClr val="F39C12"/>
                </a:solidFill>
              </a:defRPr>
            </a:pPr>
            <a:r>
              <a:t>⚠️ Weight assignment: No clear methodology</a:t>
            </a:r>
          </a:p>
          <a:p>
            <a:pPr lvl="1">
              <a:defRPr>
                <a:solidFill>
                  <a:srgbClr val="F39C12"/>
                </a:solidFill>
              </a:defRPr>
            </a:pPr>
            <a:r>
              <a:t>⚠️ Small dataset: Limited diversity</a:t>
            </a:r>
          </a:p>
          <a:p>
            <a:br/>
            <a:pPr>
              <a:defRPr b="1" i="1"/>
            </a:pPr>
            <a:r>
              <a:t>"Transparency is hard but essential"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C3E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Summary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✅ 86% precision (exceeds 80% target)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✅ Full transparency with explanations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✅ Demographic bias detection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✅ 53 pytest tests</a:t>
            </a:r>
          </a:p>
          <a:p>
            <a:pPr lvl="1">
              <a:defRPr>
                <a:solidFill>
                  <a:srgbClr val="27AE60"/>
                </a:solidFill>
              </a:defRPr>
            </a:pPr>
            <a:r>
              <a:t>✅ Complete documentation + 6 diagrams</a:t>
            </a:r>
          </a:p>
          <a:p>
            <a:br/>
            <a:pPr>
              <a:defRPr b="1"/>
            </a:pPr>
            <a:r>
              <a:t>Impact</a:t>
            </a:r>
          </a:p>
          <a:p>
            <a:pPr lvl="1"/>
            <a:r>
              <a:t>3 seconds (vs 15-20 minutes manually)</a:t>
            </a:r>
          </a:p>
          <a:p>
            <a:pPr lvl="1"/>
            <a:r>
              <a:t>Transparent recommendations build trust</a:t>
            </a:r>
          </a:p>
          <a:p>
            <a:pPr lvl="1"/>
            <a:r>
              <a:t>Scalable foundation for ML enhancements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498DB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Umut Turklay</a:t>
            </a:r>
          </a:p>
          <a:p>
            <a:r>
              <a:t>UE Course Project</a:t>
            </a:r>
          </a:p>
          <a:p>
            <a:r>
              <a:t>January 2026</a:t>
            </a:r>
          </a:p>
          <a:p/>
          <a:p>
            <a:r>
              <a:t>Demo: http://localhost:5002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